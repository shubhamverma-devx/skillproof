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2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hubham/Desktop/skillproof/docs/screenshots/se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371600"/>
            <a:ext cx="1005840" cy="10058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22960" y="2651760"/>
            <a:ext cx="100584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Skills proven, not claimed.</a:t>
            </a:r>
            <a:endParaRPr lang="en-US" sz="5200" dirty="0"/>
          </a:p>
        </p:txBody>
      </p:sp>
      <p:sp>
        <p:nvSpPr>
          <p:cNvPr id="4" name="Text 1"/>
          <p:cNvSpPr/>
          <p:nvPr/>
        </p:nvSpPr>
        <p:spPr>
          <a:xfrm>
            <a:off x="822960" y="3749040"/>
            <a:ext cx="80467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EB7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SkillProof turns a student profile into a measurable readiness score and an adaptive roadmap, with the evidence behind every number.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822960" y="57607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A9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Bit N Build 2026, UP Regionals  |  Problem statement 05, education and employability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hubham/Desktop/skillproof/docs/screenshots/se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384048"/>
            <a:ext cx="329184" cy="32918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0" y="384048"/>
            <a:ext cx="27432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2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SkillProof</a:t>
            </a:r>
            <a:endParaRPr lang="en-US" sz="1400" dirty="0"/>
          </a:p>
        </p:txBody>
      </p:sp>
      <p:sp>
        <p:nvSpPr>
          <p:cNvPr id="4" name="Text 1"/>
          <p:cNvSpPr/>
          <p:nvPr/>
        </p:nvSpPr>
        <p:spPr>
          <a:xfrm>
            <a:off x="502920" y="1005840"/>
            <a:ext cx="1118311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B22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</a:t>
            </a:r>
            <a:endParaRPr lang="en-US" sz="3400" dirty="0"/>
          </a:p>
        </p:txBody>
      </p:sp>
      <p:sp>
        <p:nvSpPr>
          <p:cNvPr id="5" name="Text 2"/>
          <p:cNvSpPr/>
          <p:nvPr/>
        </p:nvSpPr>
        <p:spPr>
          <a:xfrm>
            <a:off x="502920" y="1691640"/>
            <a:ext cx="999439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E6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student knows the role they want. Nobody tells them what they are missing for it.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02920" y="2596896"/>
            <a:ext cx="82296" cy="402336"/>
          </a:xfrm>
          <a:prstGeom prst="rect">
            <a:avLst/>
          </a:prstGeom>
          <a:solidFill>
            <a:srgbClr val="2F4BFF"/>
          </a:solidFill>
          <a:ln/>
        </p:spPr>
      </p:sp>
      <p:sp>
        <p:nvSpPr>
          <p:cNvPr id="7" name="Text 4"/>
          <p:cNvSpPr/>
          <p:nvPr/>
        </p:nvSpPr>
        <p:spPr>
          <a:xfrm>
            <a:off x="758952" y="2468880"/>
            <a:ext cx="10515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2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Resumes are self reported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758952" y="2798064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6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listed skill and a proven skill look identical on paper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502920" y="3557016"/>
            <a:ext cx="82296" cy="402336"/>
          </a:xfrm>
          <a:prstGeom prst="rect">
            <a:avLst/>
          </a:prstGeom>
          <a:solidFill>
            <a:srgbClr val="2F4BFF"/>
          </a:solidFill>
          <a:ln/>
        </p:spPr>
      </p:sp>
      <p:sp>
        <p:nvSpPr>
          <p:cNvPr id="10" name="Text 7"/>
          <p:cNvSpPr/>
          <p:nvPr/>
        </p:nvSpPr>
        <p:spPr>
          <a:xfrm>
            <a:off x="758952" y="3429000"/>
            <a:ext cx="10515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2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Roadmaps are generic</a:t>
            </a:r>
            <a:endParaRPr lang="en-US" sz="1700" dirty="0"/>
          </a:p>
        </p:txBody>
      </p:sp>
      <p:sp>
        <p:nvSpPr>
          <p:cNvPr id="11" name="Text 8"/>
          <p:cNvSpPr/>
          <p:nvPr/>
        </p:nvSpPr>
        <p:spPr>
          <a:xfrm>
            <a:off x="758952" y="3758184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6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same eight week plan for a student with four shipped projects and one with none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02920" y="4517136"/>
            <a:ext cx="82296" cy="402336"/>
          </a:xfrm>
          <a:prstGeom prst="rect">
            <a:avLst/>
          </a:prstGeom>
          <a:solidFill>
            <a:srgbClr val="2F4BFF"/>
          </a:solidFill>
          <a:ln/>
        </p:spPr>
      </p:sp>
      <p:sp>
        <p:nvSpPr>
          <p:cNvPr id="13" name="Text 10"/>
          <p:cNvSpPr/>
          <p:nvPr/>
        </p:nvSpPr>
        <p:spPr>
          <a:xfrm>
            <a:off x="758952" y="4389120"/>
            <a:ext cx="10515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2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Nothing is measurable</a:t>
            </a:r>
            <a:endParaRPr lang="en-US" sz="1700" dirty="0"/>
          </a:p>
        </p:txBody>
      </p:sp>
      <p:sp>
        <p:nvSpPr>
          <p:cNvPr id="14" name="Text 11"/>
          <p:cNvSpPr/>
          <p:nvPr/>
        </p:nvSpPr>
        <p:spPr>
          <a:xfrm>
            <a:off x="758952" y="4718304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6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number to argue with, so no way to know if this month helped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502920" y="5477256"/>
            <a:ext cx="82296" cy="402336"/>
          </a:xfrm>
          <a:prstGeom prst="rect">
            <a:avLst/>
          </a:prstGeom>
          <a:solidFill>
            <a:srgbClr val="2F4BFF"/>
          </a:solidFill>
          <a:ln/>
        </p:spPr>
      </p:sp>
      <p:sp>
        <p:nvSpPr>
          <p:cNvPr id="16" name="Text 13"/>
          <p:cNvSpPr/>
          <p:nvPr/>
        </p:nvSpPr>
        <p:spPr>
          <a:xfrm>
            <a:off x="758952" y="5349240"/>
            <a:ext cx="10515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2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result</a:t>
            </a:r>
            <a:endParaRPr lang="en-US" sz="1700" dirty="0"/>
          </a:p>
        </p:txBody>
      </p:sp>
      <p:sp>
        <p:nvSpPr>
          <p:cNvPr id="17" name="Text 14"/>
          <p:cNvSpPr/>
          <p:nvPr/>
        </p:nvSpPr>
        <p:spPr>
          <a:xfrm>
            <a:off x="758952" y="5678424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6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months on the wrong skill, and a portfolio that does not answer the recruiter question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hubham/Desktop/skillproof/docs/screenshots/se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384048"/>
            <a:ext cx="329184" cy="32918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0" y="384048"/>
            <a:ext cx="27432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2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SkillProof</a:t>
            </a:r>
            <a:endParaRPr lang="en-US" sz="1400" dirty="0"/>
          </a:p>
        </p:txBody>
      </p:sp>
      <p:sp>
        <p:nvSpPr>
          <p:cNvPr id="4" name="Text 1"/>
          <p:cNvSpPr/>
          <p:nvPr/>
        </p:nvSpPr>
        <p:spPr>
          <a:xfrm>
            <a:off x="502920" y="1005840"/>
            <a:ext cx="1118311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B22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existing tools fall short</a:t>
            </a:r>
            <a:endParaRPr lang="en-US" sz="34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2194560"/>
          <a:ext cx="11183112" cy="914400"/>
        </p:xfrm>
        <a:graphic>
          <a:graphicData uri="http://schemas.openxmlformats.org/drawingml/2006/table">
            <a:tbl>
              <a:tblPr/>
              <a:tblGrid>
                <a:gridCol w="3727704"/>
                <a:gridCol w="3727704"/>
                <a:gridCol w="3727704"/>
              </a:tblGrid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2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Tool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127000" marB="127000" anchor="ctr">
                    <a:lnL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2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What it does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127000" marB="127000" anchor="ctr">
                    <a:lnL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2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What it misses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127000" marB="127000" anchor="ctr">
                    <a:lnL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E678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Course platforms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127000" marB="127000" anchor="ctr">
                    <a:lnL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E678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Sell a fixed syllabus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127000" marB="127000" anchor="ctr">
                    <a:lnL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E678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idea what you already know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127000" marB="127000" anchor="ctr">
                    <a:lnL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E678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Resume scanners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127000" marB="127000" anchor="ctr">
                    <a:lnL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E678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Match keywords to a job description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127000" marB="127000" anchor="ctr">
                    <a:lnL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E678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Trusts the resume completely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127000" marB="127000" anchor="ctr">
                    <a:lnL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E678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chatbot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127000" marB="127000" anchor="ctr">
                    <a:lnL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E678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Writes a plausible roadmap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127000" marB="127000" anchor="ctr">
                    <a:lnL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E678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evidence, no score, no memory, invented links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127000" marB="127000" anchor="ctr">
                    <a:lnL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E678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Placement portals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127000" marB="127000" anchor="ctr">
                    <a:lnL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E678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List openings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127000" marB="127000" anchor="ctr">
                    <a:lnL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E678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Never say what you are missing for them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127000" marB="127000" anchor="ctr">
                    <a:lnL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hubham/Desktop/skillproof/docs/screenshots/se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384048"/>
            <a:ext cx="329184" cy="32918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0" y="384048"/>
            <a:ext cx="27432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2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SkillProof</a:t>
            </a:r>
            <a:endParaRPr lang="en-US" sz="1400" dirty="0"/>
          </a:p>
        </p:txBody>
      </p:sp>
      <p:sp>
        <p:nvSpPr>
          <p:cNvPr id="4" name="Text 1"/>
          <p:cNvSpPr/>
          <p:nvPr/>
        </p:nvSpPr>
        <p:spPr>
          <a:xfrm>
            <a:off x="502920" y="1005840"/>
            <a:ext cx="1118311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B22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SkillProof</a:t>
            </a:r>
            <a:endParaRPr lang="en-US" sz="3400" dirty="0"/>
          </a:p>
        </p:txBody>
      </p:sp>
      <p:sp>
        <p:nvSpPr>
          <p:cNvPr id="5" name="Text 2"/>
          <p:cNvSpPr/>
          <p:nvPr/>
        </p:nvSpPr>
        <p:spPr>
          <a:xfrm>
            <a:off x="502920" y="1691640"/>
            <a:ext cx="999439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E6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Skills proven, not claimed. Four steps, all visible to the student.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02920" y="2596896"/>
            <a:ext cx="82296" cy="402336"/>
          </a:xfrm>
          <a:prstGeom prst="rect">
            <a:avLst/>
          </a:prstGeom>
          <a:solidFill>
            <a:srgbClr val="2F4BFF"/>
          </a:solidFill>
          <a:ln/>
        </p:spPr>
      </p:sp>
      <p:sp>
        <p:nvSpPr>
          <p:cNvPr id="7" name="Text 4"/>
          <p:cNvSpPr/>
          <p:nvPr/>
        </p:nvSpPr>
        <p:spPr>
          <a:xfrm>
            <a:off x="758952" y="2468880"/>
            <a:ext cx="10515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2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Collect evidence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758952" y="2798064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6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resume gives "on your resume", GitHub gives "seen in your code" traced to the file, a test gives "tested"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502920" y="3557016"/>
            <a:ext cx="82296" cy="402336"/>
          </a:xfrm>
          <a:prstGeom prst="rect">
            <a:avLst/>
          </a:prstGeom>
          <a:solidFill>
            <a:srgbClr val="2F4BFF"/>
          </a:solidFill>
          <a:ln/>
        </p:spPr>
      </p:sp>
      <p:sp>
        <p:nvSpPr>
          <p:cNvPr id="10" name="Text 7"/>
          <p:cNvSpPr/>
          <p:nvPr/>
        </p:nvSpPr>
        <p:spPr>
          <a:xfrm>
            <a:off x="758952" y="3429000"/>
            <a:ext cx="10515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2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Price the gaps</a:t>
            </a:r>
            <a:endParaRPr lang="en-US" sz="1700" dirty="0"/>
          </a:p>
        </p:txBody>
      </p:sp>
      <p:sp>
        <p:nvSpPr>
          <p:cNvPr id="11" name="Text 8"/>
          <p:cNvSpPr/>
          <p:nvPr/>
        </p:nvSpPr>
        <p:spPr>
          <a:xfrm>
            <a:off x="758952" y="3758184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6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job readiness is the demand weighted share of the role the student can actually prove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02920" y="4517136"/>
            <a:ext cx="82296" cy="402336"/>
          </a:xfrm>
          <a:prstGeom prst="rect">
            <a:avLst/>
          </a:prstGeom>
          <a:solidFill>
            <a:srgbClr val="2F4BFF"/>
          </a:solidFill>
          <a:ln/>
        </p:spPr>
      </p:sp>
      <p:sp>
        <p:nvSpPr>
          <p:cNvPr id="13" name="Text 10"/>
          <p:cNvSpPr/>
          <p:nvPr/>
        </p:nvSpPr>
        <p:spPr>
          <a:xfrm>
            <a:off x="758952" y="4389120"/>
            <a:ext cx="10515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2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 against the evidence</a:t>
            </a:r>
            <a:endParaRPr lang="en-US" sz="1700" dirty="0"/>
          </a:p>
        </p:txBody>
      </p:sp>
      <p:sp>
        <p:nvSpPr>
          <p:cNvPr id="14" name="Text 11"/>
          <p:cNvSpPr/>
          <p:nvPr/>
        </p:nvSpPr>
        <p:spPr>
          <a:xfrm>
            <a:off x="758952" y="4718304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6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ranked by cost, ordered by prerequisite, packed into your hours, ending in a proof project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502920" y="5477256"/>
            <a:ext cx="82296" cy="402336"/>
          </a:xfrm>
          <a:prstGeom prst="rect">
            <a:avLst/>
          </a:prstGeom>
          <a:solidFill>
            <a:srgbClr val="2F4BFF"/>
          </a:solidFill>
          <a:ln/>
        </p:spPr>
      </p:sp>
      <p:sp>
        <p:nvSpPr>
          <p:cNvPr id="16" name="Text 13"/>
          <p:cNvSpPr/>
          <p:nvPr/>
        </p:nvSpPr>
        <p:spPr>
          <a:xfrm>
            <a:off x="758952" y="5349240"/>
            <a:ext cx="10515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2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Replan on proof</a:t>
            </a:r>
            <a:endParaRPr lang="en-US" sz="1700" dirty="0"/>
          </a:p>
        </p:txBody>
      </p:sp>
      <p:sp>
        <p:nvSpPr>
          <p:cNvPr id="17" name="Text 14"/>
          <p:cNvSpPr/>
          <p:nvPr/>
        </p:nvSpPr>
        <p:spPr>
          <a:xfrm>
            <a:off x="758952" y="5678424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6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new piece of evidence recalculates the score and rebuilds the weeks you have not touched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hubham/Desktop/skillproof/docs/screenshots/se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384048"/>
            <a:ext cx="329184" cy="32918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0" y="384048"/>
            <a:ext cx="27432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2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SkillProof</a:t>
            </a:r>
            <a:endParaRPr lang="en-US" sz="1400" dirty="0"/>
          </a:p>
        </p:txBody>
      </p:sp>
      <p:sp>
        <p:nvSpPr>
          <p:cNvPr id="4" name="Text 1"/>
          <p:cNvSpPr/>
          <p:nvPr/>
        </p:nvSpPr>
        <p:spPr>
          <a:xfrm>
            <a:off x="502920" y="1005840"/>
            <a:ext cx="1118311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B22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number, and a sentence saying what it means</a:t>
            </a:r>
            <a:endParaRPr lang="en-US" sz="3400" dirty="0"/>
          </a:p>
        </p:txBody>
      </p:sp>
      <p:sp>
        <p:nvSpPr>
          <p:cNvPr id="5" name="Text 2"/>
          <p:cNvSpPr/>
          <p:nvPr/>
        </p:nvSpPr>
        <p:spPr>
          <a:xfrm>
            <a:off x="502920" y="1691640"/>
            <a:ext cx="999439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E6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"You are 47% ready for ML Engineer roles." Every block in the bar is a skill the role asks for.</a:t>
            </a:r>
            <a:endParaRPr lang="en-US" sz="1600" dirty="0"/>
          </a:p>
        </p:txBody>
      </p:sp>
      <p:pic>
        <p:nvPicPr>
          <p:cNvPr id="6" name="Image 1" descr="/Users/shubham/Desktop/skillproof/docs/screenshots/deck/03-overvie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423160"/>
            <a:ext cx="6583680" cy="41148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7452360" y="2688336"/>
            <a:ext cx="82296" cy="402336"/>
          </a:xfrm>
          <a:prstGeom prst="rect">
            <a:avLst/>
          </a:prstGeom>
          <a:solidFill>
            <a:srgbClr val="2F4BFF"/>
          </a:solidFill>
          <a:ln/>
        </p:spPr>
      </p:sp>
      <p:sp>
        <p:nvSpPr>
          <p:cNvPr id="8" name="Text 4"/>
          <p:cNvSpPr/>
          <p:nvPr/>
        </p:nvSpPr>
        <p:spPr>
          <a:xfrm>
            <a:off x="7708392" y="2560320"/>
            <a:ext cx="4114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2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 width is how often real job posts ask for it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7452360" y="3648456"/>
            <a:ext cx="82296" cy="402336"/>
          </a:xfrm>
          <a:prstGeom prst="rect">
            <a:avLst/>
          </a:prstGeom>
          <a:solidFill>
            <a:srgbClr val="2F4BFF"/>
          </a:solidFill>
          <a:ln/>
        </p:spPr>
      </p:sp>
      <p:sp>
        <p:nvSpPr>
          <p:cNvPr id="10" name="Text 6"/>
          <p:cNvSpPr/>
          <p:nvPr/>
        </p:nvSpPr>
        <p:spPr>
          <a:xfrm>
            <a:off x="7708392" y="3520440"/>
            <a:ext cx="4114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2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Colour is how far the student has proved it</a:t>
            </a:r>
            <a:endParaRPr lang="en-US" sz="1700" dirty="0"/>
          </a:p>
        </p:txBody>
      </p:sp>
      <p:sp>
        <p:nvSpPr>
          <p:cNvPr id="11" name="Shape 7"/>
          <p:cNvSpPr/>
          <p:nvPr/>
        </p:nvSpPr>
        <p:spPr>
          <a:xfrm>
            <a:off x="7452360" y="4608576"/>
            <a:ext cx="82296" cy="402336"/>
          </a:xfrm>
          <a:prstGeom prst="rect">
            <a:avLst/>
          </a:prstGeom>
          <a:solidFill>
            <a:srgbClr val="2F4BFF"/>
          </a:solidFill>
          <a:ln/>
        </p:spPr>
      </p:sp>
      <p:sp>
        <p:nvSpPr>
          <p:cNvPr id="12" name="Text 8"/>
          <p:cNvSpPr/>
          <p:nvPr/>
        </p:nvSpPr>
        <p:spPr>
          <a:xfrm>
            <a:off x="7708392" y="4480560"/>
            <a:ext cx="4114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2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"You could reach 89 by proving skills you already have"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7708392" y="4809744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6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a gap reads as not shown yet rather than not learned yet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7452360" y="5568696"/>
            <a:ext cx="82296" cy="402336"/>
          </a:xfrm>
          <a:prstGeom prst="rect">
            <a:avLst/>
          </a:prstGeom>
          <a:solidFill>
            <a:srgbClr val="2F4BFF"/>
          </a:solidFill>
          <a:ln/>
        </p:spPr>
      </p:sp>
      <p:sp>
        <p:nvSpPr>
          <p:cNvPr id="15" name="Text 11"/>
          <p:cNvSpPr/>
          <p:nvPr/>
        </p:nvSpPr>
        <p:spPr>
          <a:xfrm>
            <a:off x="7708392" y="5440680"/>
            <a:ext cx="4114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2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next step, and it is the only primary button on the page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hubham/Desktop/skillproof/docs/screenshots/se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384048"/>
            <a:ext cx="329184" cy="32918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0" y="384048"/>
            <a:ext cx="27432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2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SkillProof</a:t>
            </a:r>
            <a:endParaRPr lang="en-US" sz="1400" dirty="0"/>
          </a:p>
        </p:txBody>
      </p:sp>
      <p:sp>
        <p:nvSpPr>
          <p:cNvPr id="4" name="Text 1"/>
          <p:cNvSpPr/>
          <p:nvPr/>
        </p:nvSpPr>
        <p:spPr>
          <a:xfrm>
            <a:off x="502920" y="1005840"/>
            <a:ext cx="1118311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B22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claim is traceable</a:t>
            </a:r>
            <a:endParaRPr lang="en-US" sz="3400" dirty="0"/>
          </a:p>
        </p:txBody>
      </p:sp>
      <p:sp>
        <p:nvSpPr>
          <p:cNvPr id="5" name="Text 2"/>
          <p:cNvSpPr/>
          <p:nvPr/>
        </p:nvSpPr>
        <p:spPr>
          <a:xfrm>
            <a:off x="502920" y="1691640"/>
            <a:ext cx="999439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E6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SQL is asked for in 64% of ML Engineer listings, sits on her resume, and appears in none of her ten repositories.</a:t>
            </a:r>
            <a:endParaRPr lang="en-US" sz="1600" dirty="0"/>
          </a:p>
        </p:txBody>
      </p:sp>
      <p:pic>
        <p:nvPicPr>
          <p:cNvPr id="6" name="Image 1" descr="/Users/shubham/Desktop/skillproof/docs/screenshots/deck/05-evidence-sq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423160"/>
            <a:ext cx="6583680" cy="41148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7452360" y="2688336"/>
            <a:ext cx="82296" cy="402336"/>
          </a:xfrm>
          <a:prstGeom prst="rect">
            <a:avLst/>
          </a:prstGeom>
          <a:solidFill>
            <a:srgbClr val="2F4BFF"/>
          </a:solidFill>
          <a:ln/>
        </p:spPr>
      </p:sp>
      <p:sp>
        <p:nvSpPr>
          <p:cNvPr id="8" name="Text 4"/>
          <p:cNvSpPr/>
          <p:nvPr/>
        </p:nvSpPr>
        <p:spPr>
          <a:xfrm>
            <a:off x="7708392" y="2560320"/>
            <a:ext cx="4114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2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your resume</a:t>
            </a:r>
            <a:endParaRPr lang="en-US" sz="1700" dirty="0"/>
          </a:p>
        </p:txBody>
      </p:sp>
      <p:sp>
        <p:nvSpPr>
          <p:cNvPr id="9" name="Text 5"/>
          <p:cNvSpPr/>
          <p:nvPr/>
        </p:nvSpPr>
        <p:spPr>
          <a:xfrm>
            <a:off x="7708392" y="2889504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6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resume says so and nothing else does (claimed)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7452360" y="3648456"/>
            <a:ext cx="82296" cy="402336"/>
          </a:xfrm>
          <a:prstGeom prst="rect">
            <a:avLst/>
          </a:prstGeom>
          <a:solidFill>
            <a:srgbClr val="2F4BFF"/>
          </a:solidFill>
          <a:ln/>
        </p:spPr>
      </p:sp>
      <p:sp>
        <p:nvSpPr>
          <p:cNvPr id="11" name="Text 7"/>
          <p:cNvSpPr/>
          <p:nvPr/>
        </p:nvSpPr>
        <p:spPr>
          <a:xfrm>
            <a:off x="7708392" y="3520440"/>
            <a:ext cx="4114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2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Seen in your code</a:t>
            </a:r>
            <a:endParaRPr lang="en-US" sz="1700" dirty="0"/>
          </a:p>
        </p:txBody>
      </p:sp>
      <p:sp>
        <p:nvSpPr>
          <p:cNvPr id="12" name="Text 8"/>
          <p:cNvSpPr/>
          <p:nvPr/>
        </p:nvSpPr>
        <p:spPr>
          <a:xfrm>
            <a:off x="7708392" y="3849624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6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found in a public repository, with the file named (observed)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7452360" y="4608576"/>
            <a:ext cx="82296" cy="402336"/>
          </a:xfrm>
          <a:prstGeom prst="rect">
            <a:avLst/>
          </a:prstGeom>
          <a:solidFill>
            <a:srgbClr val="2F4BFF"/>
          </a:solidFill>
          <a:ln/>
        </p:spPr>
      </p:sp>
      <p:sp>
        <p:nvSpPr>
          <p:cNvPr id="14" name="Text 10"/>
          <p:cNvSpPr/>
          <p:nvPr/>
        </p:nvSpPr>
        <p:spPr>
          <a:xfrm>
            <a:off x="7708392" y="4480560"/>
            <a:ext cx="4114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2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Tested</a:t>
            </a:r>
            <a:endParaRPr lang="en-US" sz="1700" dirty="0"/>
          </a:p>
        </p:txBody>
      </p:sp>
      <p:sp>
        <p:nvSpPr>
          <p:cNvPr id="15" name="Text 11"/>
          <p:cNvSpPr/>
          <p:nvPr/>
        </p:nvSpPr>
        <p:spPr>
          <a:xfrm>
            <a:off x="7708392" y="4809744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6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passed an adaptive test (verified)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hubham/Desktop/skillproof/docs/screenshots/se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384048"/>
            <a:ext cx="329184" cy="32918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0" y="384048"/>
            <a:ext cx="27432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2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SkillProof</a:t>
            </a:r>
            <a:endParaRPr lang="en-US" sz="1400" dirty="0"/>
          </a:p>
        </p:txBody>
      </p:sp>
      <p:sp>
        <p:nvSpPr>
          <p:cNvPr id="4" name="Text 1"/>
          <p:cNvSpPr/>
          <p:nvPr/>
        </p:nvSpPr>
        <p:spPr>
          <a:xfrm>
            <a:off x="502920" y="1005840"/>
            <a:ext cx="1118311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B22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Claiming is not proving</a:t>
            </a:r>
            <a:endParaRPr lang="en-US" sz="3400" dirty="0"/>
          </a:p>
        </p:txBody>
      </p:sp>
      <p:sp>
        <p:nvSpPr>
          <p:cNvPr id="5" name="Text 2"/>
          <p:cNvSpPr/>
          <p:nvPr/>
        </p:nvSpPr>
        <p:spPr>
          <a:xfrm>
            <a:off x="502920" y="1691640"/>
            <a:ext cx="999439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E6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SQL was on the resume. Under four adaptive questions it scores 21%, the label stays "on your resume", and the score edges down.</a:t>
            </a:r>
            <a:endParaRPr lang="en-US" sz="1600" dirty="0"/>
          </a:p>
        </p:txBody>
      </p:sp>
      <p:pic>
        <p:nvPicPr>
          <p:cNvPr id="6" name="Image 1" descr="/Users/shubham/Desktop/skillproof/docs/screenshots/deck/10-quiz-sql-resul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423160"/>
            <a:ext cx="6583680" cy="41148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7452360" y="2688336"/>
            <a:ext cx="82296" cy="402336"/>
          </a:xfrm>
          <a:prstGeom prst="rect">
            <a:avLst/>
          </a:prstGeom>
          <a:solidFill>
            <a:srgbClr val="2F4BFF"/>
          </a:solidFill>
          <a:ln/>
        </p:spPr>
      </p:sp>
      <p:sp>
        <p:nvSpPr>
          <p:cNvPr id="8" name="Text 4"/>
          <p:cNvSpPr/>
          <p:nvPr/>
        </p:nvSpPr>
        <p:spPr>
          <a:xfrm>
            <a:off x="7708392" y="2560320"/>
            <a:ext cx="4114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2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Harder after a correct answer, easier after a wrong one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7452360" y="3648456"/>
            <a:ext cx="82296" cy="402336"/>
          </a:xfrm>
          <a:prstGeom prst="rect">
            <a:avLst/>
          </a:prstGeom>
          <a:solidFill>
            <a:srgbClr val="2F4BFF"/>
          </a:solidFill>
          <a:ln/>
        </p:spPr>
      </p:sp>
      <p:sp>
        <p:nvSpPr>
          <p:cNvPr id="10" name="Text 6"/>
          <p:cNvSpPr/>
          <p:nvPr/>
        </p:nvSpPr>
        <p:spPr>
          <a:xfrm>
            <a:off x="7708392" y="3520440"/>
            <a:ext cx="4114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2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Scored by difficulty weight, not raw count</a:t>
            </a:r>
            <a:endParaRPr lang="en-US" sz="1700" dirty="0"/>
          </a:p>
        </p:txBody>
      </p:sp>
      <p:sp>
        <p:nvSpPr>
          <p:cNvPr id="11" name="Shape 7"/>
          <p:cNvSpPr/>
          <p:nvPr/>
        </p:nvSpPr>
        <p:spPr>
          <a:xfrm>
            <a:off x="7452360" y="4608576"/>
            <a:ext cx="82296" cy="402336"/>
          </a:xfrm>
          <a:prstGeom prst="rect">
            <a:avLst/>
          </a:prstGeom>
          <a:solidFill>
            <a:srgbClr val="2F4BFF"/>
          </a:solidFill>
          <a:ln/>
        </p:spPr>
      </p:sp>
      <p:sp>
        <p:nvSpPr>
          <p:cNvPr id="12" name="Text 8"/>
          <p:cNvSpPr/>
          <p:nvPr/>
        </p:nvSpPr>
        <p:spPr>
          <a:xfrm>
            <a:off x="7708392" y="4480560"/>
            <a:ext cx="4114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2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answer never reaches the browser before you answer</a:t>
            </a:r>
            <a:endParaRPr lang="en-US" sz="1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hubham/Desktop/skillproof/docs/screenshots/se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384048"/>
            <a:ext cx="329184" cy="32918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0" y="384048"/>
            <a:ext cx="27432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2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SkillProof</a:t>
            </a:r>
            <a:endParaRPr lang="en-US" sz="1400" dirty="0"/>
          </a:p>
        </p:txBody>
      </p:sp>
      <p:sp>
        <p:nvSpPr>
          <p:cNvPr id="4" name="Text 1"/>
          <p:cNvSpPr/>
          <p:nvPr/>
        </p:nvSpPr>
        <p:spPr>
          <a:xfrm>
            <a:off x="502920" y="1005840"/>
            <a:ext cx="1118311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B22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plan that answers why</a:t>
            </a:r>
            <a:endParaRPr lang="en-US" sz="3400" dirty="0"/>
          </a:p>
        </p:txBody>
      </p:sp>
      <p:sp>
        <p:nvSpPr>
          <p:cNvPr id="5" name="Text 2"/>
          <p:cNvSpPr/>
          <p:nvPr/>
        </p:nvSpPr>
        <p:spPr>
          <a:xfrm>
            <a:off x="502920" y="1691640"/>
            <a:ext cx="999439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E6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Eight weeks, eight hours a week, nothing over budget, prerequisites respected.</a:t>
            </a:r>
            <a:endParaRPr lang="en-US" sz="1600" dirty="0"/>
          </a:p>
        </p:txBody>
      </p:sp>
      <p:pic>
        <p:nvPicPr>
          <p:cNvPr id="6" name="Image 1" descr="/Users/shubham/Desktop/skillproof/docs/screenshots/deck/12-roadmap-item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423160"/>
            <a:ext cx="6583680" cy="41148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7452360" y="2688336"/>
            <a:ext cx="82296" cy="402336"/>
          </a:xfrm>
          <a:prstGeom prst="rect">
            <a:avLst/>
          </a:prstGeom>
          <a:solidFill>
            <a:srgbClr val="2F4BFF"/>
          </a:solidFill>
          <a:ln/>
        </p:spPr>
      </p:sp>
      <p:sp>
        <p:nvSpPr>
          <p:cNvPr id="8" name="Text 4"/>
          <p:cNvSpPr/>
          <p:nvPr/>
        </p:nvSpPr>
        <p:spPr>
          <a:xfrm>
            <a:off x="7708392" y="2560320"/>
            <a:ext cx="4114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2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is written in numbers, not motivation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7452360" y="3648456"/>
            <a:ext cx="82296" cy="402336"/>
          </a:xfrm>
          <a:prstGeom prst="rect">
            <a:avLst/>
          </a:prstGeom>
          <a:solidFill>
            <a:srgbClr val="2F4BFF"/>
          </a:solidFill>
          <a:ln/>
        </p:spPr>
      </p:sp>
      <p:sp>
        <p:nvSpPr>
          <p:cNvPr id="10" name="Text 6"/>
          <p:cNvSpPr/>
          <p:nvPr/>
        </p:nvSpPr>
        <p:spPr>
          <a:xfrm>
            <a:off x="7708392" y="3520440"/>
            <a:ext cx="4114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2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Resources come from a whitelist, so no invented links</a:t>
            </a:r>
            <a:endParaRPr lang="en-US" sz="1700" dirty="0"/>
          </a:p>
        </p:txBody>
      </p:sp>
      <p:sp>
        <p:nvSpPr>
          <p:cNvPr id="11" name="Shape 7"/>
          <p:cNvSpPr/>
          <p:nvPr/>
        </p:nvSpPr>
        <p:spPr>
          <a:xfrm>
            <a:off x="7452360" y="4608576"/>
            <a:ext cx="82296" cy="402336"/>
          </a:xfrm>
          <a:prstGeom prst="rect">
            <a:avLst/>
          </a:prstGeom>
          <a:solidFill>
            <a:srgbClr val="2F4BFF"/>
          </a:solidFill>
          <a:ln/>
        </p:spPr>
      </p:sp>
      <p:sp>
        <p:nvSpPr>
          <p:cNvPr id="12" name="Text 8"/>
          <p:cNvSpPr/>
          <p:nvPr/>
        </p:nvSpPr>
        <p:spPr>
          <a:xfrm>
            <a:off x="7708392" y="4480560"/>
            <a:ext cx="4114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2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item ends in a proof project with checkable criteria</a:t>
            </a:r>
            <a:endParaRPr lang="en-US" sz="1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hubham/Desktop/skillproof/docs/screenshots/se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384048"/>
            <a:ext cx="329184" cy="32918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0" y="384048"/>
            <a:ext cx="27432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2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SkillProof</a:t>
            </a:r>
            <a:endParaRPr lang="en-US" sz="1400" dirty="0"/>
          </a:p>
        </p:txBody>
      </p:sp>
      <p:sp>
        <p:nvSpPr>
          <p:cNvPr id="4" name="Text 1"/>
          <p:cNvSpPr/>
          <p:nvPr/>
        </p:nvSpPr>
        <p:spPr>
          <a:xfrm>
            <a:off x="502920" y="1005840"/>
            <a:ext cx="1118311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B22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replans when you prove something</a:t>
            </a:r>
            <a:endParaRPr lang="en-US" sz="3400" dirty="0"/>
          </a:p>
        </p:txBody>
      </p:sp>
      <p:sp>
        <p:nvSpPr>
          <p:cNvPr id="5" name="Text 2"/>
          <p:cNvSpPr/>
          <p:nvPr/>
        </p:nvSpPr>
        <p:spPr>
          <a:xfrm>
            <a:off x="502920" y="1691640"/>
            <a:ext cx="999439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E6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Marking a task done changes nothing. Linking the repository moves the score by 8.5 points.</a:t>
            </a:r>
            <a:endParaRPr lang="en-US" sz="1600" dirty="0"/>
          </a:p>
        </p:txBody>
      </p:sp>
      <p:pic>
        <p:nvPicPr>
          <p:cNvPr id="6" name="Image 1" descr="/Users/shubham/Desktop/skillproof/docs/screenshots/deck/14-progress-repla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423160"/>
            <a:ext cx="6583680" cy="41148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7452360" y="2688336"/>
            <a:ext cx="82296" cy="402336"/>
          </a:xfrm>
          <a:prstGeom prst="rect">
            <a:avLst/>
          </a:prstGeom>
          <a:solidFill>
            <a:srgbClr val="2F4BFF"/>
          </a:solidFill>
          <a:ln/>
        </p:spPr>
      </p:sp>
      <p:sp>
        <p:nvSpPr>
          <p:cNvPr id="8" name="Text 4"/>
          <p:cNvSpPr/>
          <p:nvPr/>
        </p:nvSpPr>
        <p:spPr>
          <a:xfrm>
            <a:off x="7708392" y="2560320"/>
            <a:ext cx="4114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2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Docker, FastAPI and AWS become seen in your code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7452360" y="3648456"/>
            <a:ext cx="82296" cy="402336"/>
          </a:xfrm>
          <a:prstGeom prst="rect">
            <a:avLst/>
          </a:prstGeom>
          <a:solidFill>
            <a:srgbClr val="2F4BFF"/>
          </a:solidFill>
          <a:ln/>
        </p:spPr>
      </p:sp>
      <p:sp>
        <p:nvSpPr>
          <p:cNvPr id="10" name="Text 6"/>
          <p:cNvSpPr/>
          <p:nvPr/>
        </p:nvSpPr>
        <p:spPr>
          <a:xfrm>
            <a:off x="7708392" y="3520440"/>
            <a:ext cx="4114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2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plan rebuilds around what is left</a:t>
            </a:r>
            <a:endParaRPr lang="en-US" sz="1700" dirty="0"/>
          </a:p>
        </p:txBody>
      </p:sp>
      <p:sp>
        <p:nvSpPr>
          <p:cNvPr id="11" name="Shape 7"/>
          <p:cNvSpPr/>
          <p:nvPr/>
        </p:nvSpPr>
        <p:spPr>
          <a:xfrm>
            <a:off x="7452360" y="4608576"/>
            <a:ext cx="82296" cy="402336"/>
          </a:xfrm>
          <a:prstGeom prst="rect">
            <a:avLst/>
          </a:prstGeom>
          <a:solidFill>
            <a:srgbClr val="2F4BFF"/>
          </a:solidFill>
          <a:ln/>
        </p:spPr>
      </p:sp>
      <p:sp>
        <p:nvSpPr>
          <p:cNvPr id="12" name="Text 8"/>
          <p:cNvSpPr/>
          <p:nvPr/>
        </p:nvSpPr>
        <p:spPr>
          <a:xfrm>
            <a:off x="7708392" y="4480560"/>
            <a:ext cx="4114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2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Anything the student edited stays locked</a:t>
            </a:r>
            <a:endParaRPr lang="en-US" sz="1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hubham/Desktop/skillproof/docs/screenshots/se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384048"/>
            <a:ext cx="329184" cy="32918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0" y="384048"/>
            <a:ext cx="27432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2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SkillProof</a:t>
            </a:r>
            <a:endParaRPr lang="en-US" sz="1400" dirty="0"/>
          </a:p>
        </p:txBody>
      </p:sp>
      <p:sp>
        <p:nvSpPr>
          <p:cNvPr id="4" name="Text 1"/>
          <p:cNvSpPr/>
          <p:nvPr/>
        </p:nvSpPr>
        <p:spPr>
          <a:xfrm>
            <a:off x="502920" y="1005840"/>
            <a:ext cx="1118311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B22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it is built</a:t>
            </a:r>
            <a:endParaRPr lang="en-US" sz="3400" dirty="0"/>
          </a:p>
        </p:txBody>
      </p:sp>
      <p:sp>
        <p:nvSpPr>
          <p:cNvPr id="5" name="Text 2"/>
          <p:cNvSpPr/>
          <p:nvPr/>
        </p:nvSpPr>
        <p:spPr>
          <a:xfrm>
            <a:off x="502920" y="1691640"/>
            <a:ext cx="999439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E6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Deterministic where it matters, AI where it helps.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02920" y="2596896"/>
            <a:ext cx="82296" cy="402336"/>
          </a:xfrm>
          <a:prstGeom prst="rect">
            <a:avLst/>
          </a:prstGeom>
          <a:solidFill>
            <a:srgbClr val="2F4BFF"/>
          </a:solidFill>
          <a:ln/>
        </p:spPr>
      </p:sp>
      <p:sp>
        <p:nvSpPr>
          <p:cNvPr id="7" name="Text 4"/>
          <p:cNvSpPr/>
          <p:nvPr/>
        </p:nvSpPr>
        <p:spPr>
          <a:xfrm>
            <a:off x="758952" y="2468880"/>
            <a:ext cx="10515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2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Deterministic core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758952" y="2798064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6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scoring, gap ranking and skill detection are plain TypeScript, so the same profile always gives the same score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502920" y="3557016"/>
            <a:ext cx="82296" cy="402336"/>
          </a:xfrm>
          <a:prstGeom prst="rect">
            <a:avLst/>
          </a:prstGeom>
          <a:solidFill>
            <a:srgbClr val="2F4BFF"/>
          </a:solidFill>
          <a:ln/>
        </p:spPr>
      </p:sp>
      <p:sp>
        <p:nvSpPr>
          <p:cNvPr id="10" name="Text 7"/>
          <p:cNvSpPr/>
          <p:nvPr/>
        </p:nvSpPr>
        <p:spPr>
          <a:xfrm>
            <a:off x="758952" y="3429000"/>
            <a:ext cx="10515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2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at the edges</a:t>
            </a:r>
            <a:endParaRPr lang="en-US" sz="1700" dirty="0"/>
          </a:p>
        </p:txBody>
      </p:sp>
      <p:sp>
        <p:nvSpPr>
          <p:cNvPr id="11" name="Text 8"/>
          <p:cNvSpPr/>
          <p:nvPr/>
        </p:nvSpPr>
        <p:spPr>
          <a:xfrm>
            <a:off x="758952" y="3758184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6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Sarvam AI writes the explanations and quiz questions, with Groq and Gemini as fallbacks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02920" y="4517136"/>
            <a:ext cx="82296" cy="402336"/>
          </a:xfrm>
          <a:prstGeom prst="rect">
            <a:avLst/>
          </a:prstGeom>
          <a:solidFill>
            <a:srgbClr val="2F4BFF"/>
          </a:solidFill>
          <a:ln/>
        </p:spPr>
      </p:sp>
      <p:sp>
        <p:nvSpPr>
          <p:cNvPr id="13" name="Text 10"/>
          <p:cNvSpPr/>
          <p:nvPr/>
        </p:nvSpPr>
        <p:spPr>
          <a:xfrm>
            <a:off x="758952" y="4389120"/>
            <a:ext cx="10515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2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Everything validated</a:t>
            </a:r>
            <a:endParaRPr lang="en-US" sz="1700" dirty="0"/>
          </a:p>
        </p:txBody>
      </p:sp>
      <p:sp>
        <p:nvSpPr>
          <p:cNvPr id="14" name="Text 11"/>
          <p:cNvSpPr/>
          <p:nvPr/>
        </p:nvSpPr>
        <p:spPr>
          <a:xfrm>
            <a:off x="758952" y="4718304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6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zod at every boundary, one repair retry, then the next provider, then built in logic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502920" y="5477256"/>
            <a:ext cx="82296" cy="402336"/>
          </a:xfrm>
          <a:prstGeom prst="rect">
            <a:avLst/>
          </a:prstGeom>
          <a:solidFill>
            <a:srgbClr val="2F4BFF"/>
          </a:solidFill>
          <a:ln/>
        </p:spPr>
      </p:sp>
      <p:sp>
        <p:nvSpPr>
          <p:cNvPr id="16" name="Text 13"/>
          <p:cNvSpPr/>
          <p:nvPr/>
        </p:nvSpPr>
        <p:spPr>
          <a:xfrm>
            <a:off x="758952" y="5349240"/>
            <a:ext cx="10515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2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Runs with zero keys</a:t>
            </a:r>
            <a:endParaRPr lang="en-US" sz="1700" dirty="0"/>
          </a:p>
        </p:txBody>
      </p:sp>
      <p:sp>
        <p:nvSpPr>
          <p:cNvPr id="17" name="Text 14"/>
          <p:cNvSpPr/>
          <p:nvPr/>
        </p:nvSpPr>
        <p:spPr>
          <a:xfrm>
            <a:off x="758952" y="5678424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6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whole product works on deterministic logic when no provider is available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hubham/Desktop/skillproof/docs/screenshots/se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384048"/>
            <a:ext cx="329184" cy="32918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0" y="384048"/>
            <a:ext cx="27432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2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SkillProof</a:t>
            </a:r>
            <a:endParaRPr lang="en-US" sz="1400" dirty="0"/>
          </a:p>
        </p:txBody>
      </p:sp>
      <p:sp>
        <p:nvSpPr>
          <p:cNvPr id="4" name="Text 1"/>
          <p:cNvSpPr/>
          <p:nvPr/>
        </p:nvSpPr>
        <p:spPr>
          <a:xfrm>
            <a:off x="502920" y="1005840"/>
            <a:ext cx="1118311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B22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Stack and engineering</a:t>
            </a:r>
            <a:endParaRPr lang="en-US" sz="34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2194560"/>
          <a:ext cx="11183112" cy="914400"/>
        </p:xfrm>
        <a:graphic>
          <a:graphicData uri="http://schemas.openxmlformats.org/drawingml/2006/table">
            <a:tbl>
              <a:tblPr/>
              <a:tblGrid>
                <a:gridCol w="5591556"/>
                <a:gridCol w="5591556"/>
              </a:tblGrid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2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Layer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127000" marB="127000" anchor="ctr">
                    <a:lnL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2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Choice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127000" marB="127000" anchor="ctr">
                    <a:lnL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E678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Frontend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127000" marB="127000" anchor="ctr">
                    <a:lnL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E678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Next.js 14 App Router, TypeScript strict, Tailwind with a custom token system, Recharts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127000" marB="127000" anchor="ctr">
                    <a:lnL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E678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Agent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127000" marB="127000" anchor="ctr">
                    <a:lnL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E678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Resume and GitHub ingestion, 84 skill taxonomy, deterministic scoring and planner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127000" marB="127000" anchor="ctr">
                    <a:lnL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E678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Models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127000" marB="127000" anchor="ctr">
                    <a:lnL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E678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Sarvam AI sarvam-105b-conversations, then Groq gpt-oss-120b, then Gemini 3.8 Flash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127000" marB="127000" anchor="ctr">
                    <a:lnL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E678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Data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127000" marB="127000" anchor="ctr">
                    <a:lnL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E678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Supabase Postgres in Mumbai, local JSON store when unconfigured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127000" marB="127000" anchor="ctr">
                    <a:lnL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E678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Quality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127000" marB="127000" anchor="ctr">
                    <a:lnL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E678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 unit tests, typecheck, lint and build in GitHub Actions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127000" marB="127000" anchor="ctr">
                    <a:lnL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hubham/Desktop/skillproof/docs/screenshots/se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384048"/>
            <a:ext cx="329184" cy="32918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0" y="384048"/>
            <a:ext cx="27432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2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SkillProof</a:t>
            </a:r>
            <a:endParaRPr lang="en-US" sz="1400" dirty="0"/>
          </a:p>
        </p:txBody>
      </p:sp>
      <p:sp>
        <p:nvSpPr>
          <p:cNvPr id="4" name="Text 1"/>
          <p:cNvSpPr/>
          <p:nvPr/>
        </p:nvSpPr>
        <p:spPr>
          <a:xfrm>
            <a:off x="502920" y="1005840"/>
            <a:ext cx="1118311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B22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Impact and what is next</a:t>
            </a:r>
            <a:endParaRPr lang="en-US" sz="3400" dirty="0"/>
          </a:p>
        </p:txBody>
      </p:sp>
      <p:sp>
        <p:nvSpPr>
          <p:cNvPr id="5" name="Shape 2"/>
          <p:cNvSpPr/>
          <p:nvPr/>
        </p:nvSpPr>
        <p:spPr>
          <a:xfrm>
            <a:off x="502920" y="2231136"/>
            <a:ext cx="82296" cy="402336"/>
          </a:xfrm>
          <a:prstGeom prst="rect">
            <a:avLst/>
          </a:prstGeom>
          <a:solidFill>
            <a:srgbClr val="2F4BFF"/>
          </a:solidFill>
          <a:ln/>
        </p:spPr>
      </p:sp>
      <p:sp>
        <p:nvSpPr>
          <p:cNvPr id="6" name="Text 3"/>
          <p:cNvSpPr/>
          <p:nvPr/>
        </p:nvSpPr>
        <p:spPr>
          <a:xfrm>
            <a:off x="758952" y="2103120"/>
            <a:ext cx="10515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2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a student</a:t>
            </a:r>
            <a:endParaRPr lang="en-US" sz="1700" dirty="0"/>
          </a:p>
        </p:txBody>
      </p:sp>
      <p:sp>
        <p:nvSpPr>
          <p:cNvPr id="7" name="Text 4"/>
          <p:cNvSpPr/>
          <p:nvPr/>
        </p:nvSpPr>
        <p:spPr>
          <a:xfrm>
            <a:off x="758952" y="2432304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6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number to argue with, a ranked list of what to fix, a portfolio project per gap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502920" y="3191256"/>
            <a:ext cx="82296" cy="402336"/>
          </a:xfrm>
          <a:prstGeom prst="rect">
            <a:avLst/>
          </a:prstGeom>
          <a:solidFill>
            <a:srgbClr val="2F4BFF"/>
          </a:solidFill>
          <a:ln/>
        </p:spPr>
      </p:sp>
      <p:sp>
        <p:nvSpPr>
          <p:cNvPr id="9" name="Text 6"/>
          <p:cNvSpPr/>
          <p:nvPr/>
        </p:nvSpPr>
        <p:spPr>
          <a:xfrm>
            <a:off x="758952" y="3063240"/>
            <a:ext cx="10515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2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a placement cell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758952" y="3392424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6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same engine across a cohort shows where training should actually go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502920" y="4151376"/>
            <a:ext cx="82296" cy="402336"/>
          </a:xfrm>
          <a:prstGeom prst="rect">
            <a:avLst/>
          </a:prstGeom>
          <a:solidFill>
            <a:srgbClr val="2F4BFF"/>
          </a:solidFill>
          <a:ln/>
        </p:spPr>
      </p:sp>
      <p:sp>
        <p:nvSpPr>
          <p:cNvPr id="12" name="Text 9"/>
          <p:cNvSpPr/>
          <p:nvPr/>
        </p:nvSpPr>
        <p:spPr>
          <a:xfrm>
            <a:off x="758952" y="4023360"/>
            <a:ext cx="10515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2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</a:t>
            </a:r>
            <a:endParaRPr lang="en-US" sz="1700" dirty="0"/>
          </a:p>
        </p:txBody>
      </p:sp>
      <p:sp>
        <p:nvSpPr>
          <p:cNvPr id="13" name="Text 10"/>
          <p:cNvSpPr/>
          <p:nvPr/>
        </p:nvSpPr>
        <p:spPr>
          <a:xfrm>
            <a:off x="758952" y="4352544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6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job post ingestion, Hindi interface, mentor review as a fourth kind of proof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502920" y="5394960"/>
            <a:ext cx="11183112" cy="27432"/>
          </a:xfrm>
          <a:prstGeom prst="rect">
            <a:avLst/>
          </a:prstGeom>
          <a:solidFill>
            <a:srgbClr val="D7DCE6"/>
          </a:solidFill>
          <a:ln/>
        </p:spPr>
      </p:sp>
      <p:sp>
        <p:nvSpPr>
          <p:cNvPr id="15" name="Text 12"/>
          <p:cNvSpPr/>
          <p:nvPr/>
        </p:nvSpPr>
        <p:spPr>
          <a:xfrm>
            <a:off x="502920" y="557784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5E6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demo  </a:t>
            </a:r>
            <a:pPr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2F4B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https://skillproof.vercel.app</a:t>
            </a:r>
            <a:pPr indent="0" marL="0">
              <a:lnSpc>
                <a:spcPct val="130000"/>
              </a:lnSpc>
              <a:buNone/>
            </a:pP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5E6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  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2F4B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https://github.com/shubhamverma-devx/skillproof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SkillProof</dc:title>
  <dc:subject>PptxGenJS Presentation</dc:subject>
  <dc:creator>SkillProof</dc:creator>
  <cp:lastModifiedBy>SkillProof</cp:lastModifiedBy>
  <cp:revision>1</cp:revision>
  <dcterms:created xsi:type="dcterms:W3CDTF">2026-09-27T01:13:56Z</dcterms:created>
  <dcterms:modified xsi:type="dcterms:W3CDTF">2026-09-27T01:13:56Z</dcterms:modified>
</cp:coreProperties>
</file>